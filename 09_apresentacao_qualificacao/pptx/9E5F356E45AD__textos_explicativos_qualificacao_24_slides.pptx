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4" d="100"/>
          <a:sy n="74" d="100"/>
        </p:scale>
        <p:origin x="78" y="75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2739067"/>
            <a:ext cx="10728959" cy="1379865"/>
          </a:xfrm>
          <a:prstGeom prst="rect">
            <a:avLst/>
          </a:prstGeom>
          <a:noFill/>
        </p:spPr>
        <p:txBody>
          <a:bodyPr wrap="square" tIns="91440" bIns="91440" anchor="ctr">
            <a:spAutoFit/>
          </a:bodyPr>
          <a:lstStyle/>
          <a:p>
            <a:pPr algn="ctr">
              <a:lnSpc>
                <a:spcPct val="150000"/>
              </a:lnSpc>
              <a:spcAft>
                <a:spcPts val="0"/>
              </a:spcAft>
            </a:pPr>
            <a:r>
              <a:rPr dirty="0" err="1">
                <a:solidFill>
                  <a:srgbClr val="000000"/>
                </a:solidFill>
                <a:latin typeface="Arial"/>
              </a:rPr>
              <a:t>Esta</a:t>
            </a:r>
            <a:r>
              <a:rPr dirty="0">
                <a:solidFill>
                  <a:srgbClr val="000000"/>
                </a:solidFill>
                <a:latin typeface="Arial"/>
              </a:rPr>
              <a:t> </a:t>
            </a:r>
            <a:r>
              <a:rPr dirty="0" err="1">
                <a:solidFill>
                  <a:srgbClr val="000000"/>
                </a:solidFill>
                <a:latin typeface="Arial"/>
              </a:rPr>
              <a:t>pesquisa</a:t>
            </a:r>
            <a:r>
              <a:rPr dirty="0">
                <a:solidFill>
                  <a:srgbClr val="000000"/>
                </a:solidFill>
                <a:latin typeface="Arial"/>
              </a:rPr>
              <a:t> </a:t>
            </a:r>
            <a:r>
              <a:rPr dirty="0" err="1">
                <a:solidFill>
                  <a:srgbClr val="000000"/>
                </a:solidFill>
                <a:latin typeface="Arial"/>
              </a:rPr>
              <a:t>propõe</a:t>
            </a:r>
            <a:r>
              <a:rPr dirty="0">
                <a:solidFill>
                  <a:srgbClr val="000000"/>
                </a:solidFill>
                <a:latin typeface="Arial"/>
              </a:rPr>
              <a:t> </a:t>
            </a:r>
            <a:r>
              <a:rPr dirty="0" err="1">
                <a:solidFill>
                  <a:srgbClr val="000000"/>
                </a:solidFill>
                <a:latin typeface="Arial"/>
              </a:rPr>
              <a:t>uma</a:t>
            </a:r>
            <a:r>
              <a:rPr dirty="0">
                <a:solidFill>
                  <a:srgbClr val="000000"/>
                </a:solidFill>
                <a:latin typeface="Arial"/>
              </a:rPr>
              <a:t> </a:t>
            </a:r>
            <a:r>
              <a:rPr dirty="0" err="1">
                <a:solidFill>
                  <a:srgbClr val="000000"/>
                </a:solidFill>
                <a:latin typeface="Arial"/>
              </a:rPr>
              <a:t>modelagem</a:t>
            </a:r>
            <a:r>
              <a:rPr dirty="0">
                <a:solidFill>
                  <a:srgbClr val="000000"/>
                </a:solidFill>
                <a:latin typeface="Arial"/>
              </a:rPr>
              <a:t> </a:t>
            </a:r>
            <a:r>
              <a:rPr dirty="0" err="1">
                <a:solidFill>
                  <a:srgbClr val="000000"/>
                </a:solidFill>
                <a:latin typeface="Arial"/>
              </a:rPr>
              <a:t>híbrida</a:t>
            </a:r>
            <a:r>
              <a:rPr dirty="0">
                <a:solidFill>
                  <a:srgbClr val="000000"/>
                </a:solidFill>
                <a:latin typeface="Arial"/>
              </a:rPr>
              <a:t> para </a:t>
            </a:r>
            <a:r>
              <a:rPr dirty="0" err="1">
                <a:solidFill>
                  <a:srgbClr val="000000"/>
                </a:solidFill>
                <a:latin typeface="Arial"/>
              </a:rPr>
              <a:t>estimar</a:t>
            </a:r>
            <a:r>
              <a:rPr dirty="0">
                <a:solidFill>
                  <a:srgbClr val="000000"/>
                </a:solidFill>
                <a:latin typeface="Arial"/>
              </a:rPr>
              <a:t> o </a:t>
            </a:r>
            <a:r>
              <a:rPr dirty="0" err="1">
                <a:solidFill>
                  <a:srgbClr val="000000"/>
                </a:solidFill>
                <a:latin typeface="Arial"/>
              </a:rPr>
              <a:t>fluxo</a:t>
            </a:r>
            <a:r>
              <a:rPr dirty="0">
                <a:solidFill>
                  <a:srgbClr val="000000"/>
                </a:solidFill>
                <a:latin typeface="Arial"/>
              </a:rPr>
              <a:t> de CO₂ (</a:t>
            </a:r>
            <a:r>
              <a:rPr dirty="0" err="1">
                <a:solidFill>
                  <a:srgbClr val="000000"/>
                </a:solidFill>
                <a:latin typeface="Arial"/>
              </a:rPr>
              <a:t>dióxido</a:t>
            </a:r>
            <a:r>
              <a:rPr dirty="0">
                <a:solidFill>
                  <a:srgbClr val="000000"/>
                </a:solidFill>
                <a:latin typeface="Arial"/>
              </a:rPr>
              <a:t> de </a:t>
            </a:r>
            <a:r>
              <a:rPr dirty="0" err="1">
                <a:solidFill>
                  <a:srgbClr val="000000"/>
                </a:solidFill>
                <a:latin typeface="Arial"/>
              </a:rPr>
              <a:t>carbono</a:t>
            </a:r>
            <a:r>
              <a:rPr dirty="0">
                <a:solidFill>
                  <a:srgbClr val="000000"/>
                </a:solidFill>
                <a:latin typeface="Arial"/>
              </a:rPr>
              <a:t>) </a:t>
            </a:r>
            <a:r>
              <a:rPr dirty="0" err="1">
                <a:solidFill>
                  <a:srgbClr val="000000"/>
                </a:solidFill>
                <a:latin typeface="Arial"/>
              </a:rPr>
              <a:t>em</a:t>
            </a:r>
            <a:r>
              <a:rPr dirty="0">
                <a:solidFill>
                  <a:srgbClr val="000000"/>
                </a:solidFill>
                <a:latin typeface="Arial"/>
              </a:rPr>
              <a:t> </a:t>
            </a:r>
            <a:r>
              <a:rPr dirty="0" err="1">
                <a:solidFill>
                  <a:srgbClr val="000000"/>
                </a:solidFill>
                <a:latin typeface="Arial"/>
              </a:rPr>
              <a:t>cultivos</a:t>
            </a:r>
            <a:r>
              <a:rPr dirty="0">
                <a:solidFill>
                  <a:srgbClr val="000000"/>
                </a:solidFill>
                <a:latin typeface="Arial"/>
              </a:rPr>
              <a:t> de soja </a:t>
            </a:r>
            <a:r>
              <a:rPr dirty="0" err="1">
                <a:solidFill>
                  <a:srgbClr val="000000"/>
                </a:solidFill>
                <a:latin typeface="Arial"/>
              </a:rPr>
              <a:t>na</a:t>
            </a:r>
            <a:r>
              <a:rPr dirty="0">
                <a:solidFill>
                  <a:srgbClr val="000000"/>
                </a:solidFill>
                <a:latin typeface="Arial"/>
              </a:rPr>
              <a:t> Amazônia Legal, </a:t>
            </a:r>
            <a:r>
              <a:rPr dirty="0" err="1">
                <a:solidFill>
                  <a:srgbClr val="000000"/>
                </a:solidFill>
                <a:latin typeface="Arial"/>
              </a:rPr>
              <a:t>integrando</a:t>
            </a:r>
            <a:r>
              <a:rPr dirty="0">
                <a:solidFill>
                  <a:srgbClr val="000000"/>
                </a:solidFill>
                <a:latin typeface="Arial"/>
              </a:rPr>
              <a:t> </a:t>
            </a:r>
            <a:r>
              <a:rPr dirty="0" err="1">
                <a:solidFill>
                  <a:srgbClr val="000000"/>
                </a:solidFill>
                <a:latin typeface="Arial"/>
              </a:rPr>
              <a:t>sensoriamento</a:t>
            </a:r>
            <a:r>
              <a:rPr dirty="0">
                <a:solidFill>
                  <a:srgbClr val="000000"/>
                </a:solidFill>
                <a:latin typeface="Arial"/>
              </a:rPr>
              <a:t> </a:t>
            </a:r>
            <a:r>
              <a:rPr dirty="0" err="1">
                <a:solidFill>
                  <a:srgbClr val="000000"/>
                </a:solidFill>
                <a:latin typeface="Arial"/>
              </a:rPr>
              <a:t>remoto</a:t>
            </a:r>
            <a:r>
              <a:rPr dirty="0">
                <a:solidFill>
                  <a:srgbClr val="000000"/>
                </a:solidFill>
                <a:latin typeface="Arial"/>
              </a:rPr>
              <a:t> </a:t>
            </a:r>
            <a:r>
              <a:rPr dirty="0" err="1">
                <a:solidFill>
                  <a:srgbClr val="000000"/>
                </a:solidFill>
                <a:latin typeface="Arial"/>
              </a:rPr>
              <a:t>hiperespectral</a:t>
            </a:r>
            <a:r>
              <a:rPr dirty="0">
                <a:solidFill>
                  <a:srgbClr val="000000"/>
                </a:solidFill>
                <a:latin typeface="Arial"/>
              </a:rPr>
              <a:t>, </a:t>
            </a:r>
            <a:r>
              <a:rPr dirty="0" err="1">
                <a:solidFill>
                  <a:srgbClr val="000000"/>
                </a:solidFill>
                <a:latin typeface="Arial"/>
              </a:rPr>
              <a:t>variáveis</a:t>
            </a:r>
            <a:r>
              <a:rPr dirty="0">
                <a:solidFill>
                  <a:srgbClr val="000000"/>
                </a:solidFill>
                <a:latin typeface="Arial"/>
              </a:rPr>
              <a:t> </a:t>
            </a:r>
            <a:r>
              <a:rPr dirty="0" err="1">
                <a:solidFill>
                  <a:srgbClr val="000000"/>
                </a:solidFill>
                <a:latin typeface="Arial"/>
              </a:rPr>
              <a:t>ambientais</a:t>
            </a:r>
            <a:r>
              <a:rPr dirty="0">
                <a:solidFill>
                  <a:srgbClr val="000000"/>
                </a:solidFill>
                <a:latin typeface="Arial"/>
              </a:rPr>
              <a:t> e IA (</a:t>
            </a:r>
            <a:r>
              <a:rPr dirty="0" err="1">
                <a:solidFill>
                  <a:srgbClr val="000000"/>
                </a:solidFill>
                <a:latin typeface="Arial"/>
              </a:rPr>
              <a:t>inteligência</a:t>
            </a:r>
            <a:r>
              <a:rPr dirty="0">
                <a:solidFill>
                  <a:srgbClr val="000000"/>
                </a:solidFill>
                <a:latin typeface="Arial"/>
              </a:rPr>
              <a:t> artificial).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10728959" cy="5943600"/>
          </a:xfrm>
          <a:prstGeom prst="rect">
            <a:avLst/>
          </a:prstGeom>
          <a:noFill/>
        </p:spPr>
        <p:txBody>
          <a:bodyPr wrap="square" tIns="91440" bIns="9144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>
                <a:solidFill>
                  <a:srgbClr val="000000"/>
                </a:solidFill>
                <a:latin typeface="Arial"/>
              </a:rPr>
              <a:t>A hipótese sustenta que a combinação entre dados HSI (Hyperspectral Imaging — imageamento hiperespectral), processos biofísicos e ML (Machine Learning — aprendizado de máquina) permite estimar o fluxo de CO₂ com maior precisão espacial e robustez metodológica.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10728959" cy="5943600"/>
          </a:xfrm>
          <a:prstGeom prst="rect">
            <a:avLst/>
          </a:prstGeom>
          <a:noFill/>
        </p:spPr>
        <p:txBody>
          <a:bodyPr wrap="square" tIns="91440" bIns="9144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>
                <a:solidFill>
                  <a:srgbClr val="000000"/>
                </a:solidFill>
                <a:latin typeface="Arial"/>
              </a:rPr>
              <a:t>O modelo organiza o fluxo metodológico desde os dados EO-1 Hyperion (Earth Observing-1 Hyperion — sensor hiperespectral orbital), INMET (Instituto Nacional de Meteorologia), ERA5-Land (reanálise climática terrestre) e MapBiomas até a geração do NEE (Net Ecosystem Exchange — troca líquida de CO₂ do ecossistema).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10728959" cy="5943600"/>
          </a:xfrm>
          <a:prstGeom prst="rect">
            <a:avLst/>
          </a:prstGeom>
          <a:noFill/>
        </p:spPr>
        <p:txBody>
          <a:bodyPr wrap="square" tIns="91440" bIns="9144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>
                <a:solidFill>
                  <a:srgbClr val="000000"/>
                </a:solidFill>
                <a:latin typeface="Arial"/>
              </a:rPr>
              <a:t>A área de estudo é definida pela interseção entre a cena EO-1 Hyperion (Earth Observing-1 Hyperion) e a classe soja do MapBiomas, garantindo que os cálculos sejam aplicados apenas aos pixels agrícolas válidos.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10728959" cy="5943600"/>
          </a:xfrm>
          <a:prstGeom prst="rect">
            <a:avLst/>
          </a:prstGeom>
          <a:noFill/>
        </p:spPr>
        <p:txBody>
          <a:bodyPr wrap="square" tIns="91440" bIns="9144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>
                <a:solidFill>
                  <a:srgbClr val="000000"/>
                </a:solidFill>
                <a:latin typeface="Arial"/>
              </a:rPr>
              <a:t>A etapa organiza o cubo HSI (Hyperspectral Imaging — imageamento hiperespectral) do sensor EO-1 Hyperion (Earth Observing-1 Hyperion), preservando metadados, bandas espectrais e referência espacial para análise da resposta da vegetação.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10728959" cy="5943600"/>
          </a:xfrm>
          <a:prstGeom prst="rect">
            <a:avLst/>
          </a:prstGeom>
          <a:noFill/>
        </p:spPr>
        <p:txBody>
          <a:bodyPr wrap="square" tIns="91440" bIns="9144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>
                <a:solidFill>
                  <a:srgbClr val="000000"/>
                </a:solidFill>
                <a:latin typeface="Arial"/>
              </a:rPr>
              <a:t>O pré-processamento remove bandas ruidosas, padroniza o cubo HSI (Hyperspectral Imaging — imageamento hiperespectral) e assegura consistência espectral e espacial antes do cálculo dos índices de vegetação.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10728959" cy="5943600"/>
          </a:xfrm>
          <a:prstGeom prst="rect">
            <a:avLst/>
          </a:prstGeom>
          <a:noFill/>
        </p:spPr>
        <p:txBody>
          <a:bodyPr wrap="square" tIns="91440" bIns="9144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>
                <a:solidFill>
                  <a:srgbClr val="000000"/>
                </a:solidFill>
                <a:latin typeface="Arial"/>
              </a:rPr>
              <a:t>Os índices NDVI (Normalized Difference Vegetation Index — índice de vegetação por diferença normalizada), EVI (Enhanced Vegetation Index — índice de vegetação realçado), SAVI (Soil Adjusted Vegetation Index — índice de vegetação ajustado ao solo) e demais métricas sintetizam vigor, umidade, estrutura e condição fisiológica da soja.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10728959" cy="5943600"/>
          </a:xfrm>
          <a:prstGeom prst="rect">
            <a:avLst/>
          </a:prstGeom>
          <a:noFill/>
        </p:spPr>
        <p:txBody>
          <a:bodyPr wrap="square" tIns="91440" bIns="9144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>
                <a:solidFill>
                  <a:srgbClr val="000000"/>
                </a:solidFill>
                <a:latin typeface="Arial"/>
              </a:rPr>
              <a:t>As bases INMET (Instituto Nacional de Meteorologia) e ERA5-Land (reanálise climática terrestre do ECMWF — European Centre for Medium-Range Weather Forecasts) fornecem variáveis atmosféricas essenciais para representar as condições ambientais do cultivo.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10728959" cy="5943600"/>
          </a:xfrm>
          <a:prstGeom prst="rect">
            <a:avLst/>
          </a:prstGeom>
          <a:noFill/>
        </p:spPr>
        <p:txBody>
          <a:bodyPr wrap="square" tIns="91440" bIns="9144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>
                <a:solidFill>
                  <a:srgbClr val="000000"/>
                </a:solidFill>
                <a:latin typeface="Arial"/>
              </a:rPr>
              <a:t>São extraídas variáveis como SWDOWN (Shortwave Downward Radiation — radiação solar incidente de onda curta), Tair (Air Temperature — temperatura do ar) e RH (Relative Humidity — umidade relativa), utilizadas como forçantes ambientais do modelo.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10728959" cy="5943600"/>
          </a:xfrm>
          <a:prstGeom prst="rect">
            <a:avLst/>
          </a:prstGeom>
          <a:noFill/>
        </p:spPr>
        <p:txBody>
          <a:bodyPr wrap="square" tIns="91440" bIns="9144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>
                <a:solidFill>
                  <a:srgbClr val="000000"/>
                </a:solidFill>
                <a:latin typeface="Arial"/>
              </a:rPr>
              <a:t>O LAI (Leaf Area Index — índice de área foliar) e o FCOVER (Fraction of Vegetation Cover — fração de cobertura vegetal) representam a estrutura do dossel e controlam a interceptação de radiação pela cultura da soja.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10728959" cy="5943600"/>
          </a:xfrm>
          <a:prstGeom prst="rect">
            <a:avLst/>
          </a:prstGeom>
          <a:noFill/>
        </p:spPr>
        <p:txBody>
          <a:bodyPr wrap="square" tIns="91440" bIns="9144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>
                <a:solidFill>
                  <a:srgbClr val="000000"/>
                </a:solidFill>
                <a:latin typeface="Arial"/>
              </a:rPr>
              <a:t>A PAR (Photosynthetically Active Radiation — radiação fotossinteticamente ativa) é estimada a partir da SWDOWN (Shortwave Downward Radiation — radiação solar incidente de onda curta), representando a fração de energia disponível para a fotossíntese.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10728959" cy="5943600"/>
          </a:xfrm>
          <a:prstGeom prst="rect">
            <a:avLst/>
          </a:prstGeom>
          <a:noFill/>
        </p:spPr>
        <p:txBody>
          <a:bodyPr wrap="square" tIns="91440" bIns="9144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>
                <a:solidFill>
                  <a:srgbClr val="000000"/>
                </a:solidFill>
                <a:latin typeface="Arial"/>
              </a:rPr>
              <a:t>A fPAR (Fraction of Absorbed Photosynthetically Active Radiation — fração da radiação fotossinteticamente ativa absorvida) expressa a parcela da PAR efetivamente absorvida pelo dossel vegetal em função do LAI (índice de área foliar).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10728959" cy="5943600"/>
          </a:xfrm>
          <a:prstGeom prst="rect">
            <a:avLst/>
          </a:prstGeom>
          <a:noFill/>
        </p:spPr>
        <p:txBody>
          <a:bodyPr wrap="square" tIns="91440" bIns="9144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>
                <a:solidFill>
                  <a:srgbClr val="000000"/>
                </a:solidFill>
                <a:latin typeface="Arial"/>
              </a:rPr>
              <a:t>A GPP (Gross Primary Productivity — produtividade primária bruta) é estimada pela combinação entre PAR (radiação fotossinteticamente ativa), fPAR (fração absorvida da PAR) e eficiência do uso da luz, representando a assimilação total de carbono pela fotossíntese.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10728959" cy="5943600"/>
          </a:xfrm>
          <a:prstGeom prst="rect">
            <a:avLst/>
          </a:prstGeom>
          <a:noFill/>
        </p:spPr>
        <p:txBody>
          <a:bodyPr wrap="square" tIns="91440" bIns="9144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>
                <a:solidFill>
                  <a:srgbClr val="000000"/>
                </a:solidFill>
                <a:latin typeface="Arial"/>
              </a:rPr>
              <a:t>A Reco (Ecosystem Respiration — respiração do ecossistema) é calculada com base na Tair (Air Temperature — temperatura do ar), Rref (respiração de referência), Tref (temperatura de referência) e Q10 (coeficiente de sensibilidade térmica da respiração).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10728959" cy="5943600"/>
          </a:xfrm>
          <a:prstGeom prst="rect">
            <a:avLst/>
          </a:prstGeom>
          <a:noFill/>
        </p:spPr>
        <p:txBody>
          <a:bodyPr wrap="square" tIns="91440" bIns="9144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>
                <a:solidFill>
                  <a:srgbClr val="000000"/>
                </a:solidFill>
                <a:latin typeface="Arial"/>
              </a:rPr>
              <a:t>O NEE (Net Ecosystem Exchange — troca líquida de CO₂ do ecossistema) é obtido pela diferença entre Reco (respiração do ecossistema) e GPP (produtividade primária bruta), indicando se o sistema atua como fonte ou sumidouro de carbono.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10728959" cy="5943600"/>
          </a:xfrm>
          <a:prstGeom prst="rect">
            <a:avLst/>
          </a:prstGeom>
          <a:noFill/>
        </p:spPr>
        <p:txBody>
          <a:bodyPr wrap="square" tIns="91440" bIns="9144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>
                <a:solidFill>
                  <a:srgbClr val="000000"/>
                </a:solidFill>
                <a:latin typeface="Arial"/>
              </a:rPr>
              <a:t>O NEEref (Net Ecosystem Exchange reference — referência biofísica da troca líquida de CO₂) representa uma série refinada do fluxo de carbono, integrando GPP, Reco e variáveis espectrais para servir como base comparativa do modelo.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10728959" cy="5943600"/>
          </a:xfrm>
          <a:prstGeom prst="rect">
            <a:avLst/>
          </a:prstGeom>
          <a:noFill/>
        </p:spPr>
        <p:txBody>
          <a:bodyPr wrap="square" tIns="91440" bIns="9144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>
                <a:solidFill>
                  <a:srgbClr val="000000"/>
                </a:solidFill>
                <a:latin typeface="Arial"/>
              </a:rPr>
              <a:t>O NEEfis0 (Net Ecosystem Exchange físico inicial — estimativa física simplificada da troca líquida de CO₂) corresponde à primeira aproximação física do fluxo de carbono, obtida por parametrização reduzida do sistema solo-planta-atmosfera.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10728959" cy="5943600"/>
          </a:xfrm>
          <a:prstGeom prst="rect">
            <a:avLst/>
          </a:prstGeom>
          <a:noFill/>
        </p:spPr>
        <p:txBody>
          <a:bodyPr wrap="square" tIns="91440" bIns="9144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>
                <a:solidFill>
                  <a:srgbClr val="000000"/>
                </a:solidFill>
                <a:latin typeface="Arial"/>
              </a:rPr>
              <a:t>A diferença entre NEEref (referência biofísica da troca líquida de CO₂) e NEEfis0 (estimativa física simplificada) gera o ΔNEE (delta Net Ecosystem Exchange — resíduo da troca líquida de CO₂), que será aprendido pelo modelo de IA.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10728959" cy="5943600"/>
          </a:xfrm>
          <a:prstGeom prst="rect">
            <a:avLst/>
          </a:prstGeom>
          <a:noFill/>
        </p:spPr>
        <p:txBody>
          <a:bodyPr wrap="square" tIns="91440" bIns="9144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>
                <a:solidFill>
                  <a:srgbClr val="000000"/>
                </a:solidFill>
                <a:latin typeface="Arial"/>
              </a:rPr>
              <a:t>As variáveis espectrais, ambientais, biofísicas e temporais são organizadas em uma matriz X de preditores, enquanto o ΔNEE (resíduo da troca líquida de CO₂) é definido como variável-alvo para o XGBoost (eXtreme Gradient Boosting — impulsionamento extremo por gradiente).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10728959" cy="5943600"/>
          </a:xfrm>
          <a:prstGeom prst="rect">
            <a:avLst/>
          </a:prstGeom>
          <a:noFill/>
        </p:spPr>
        <p:txBody>
          <a:bodyPr wrap="square" tIns="91440" bIns="9144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>
                <a:solidFill>
                  <a:srgbClr val="000000"/>
                </a:solidFill>
                <a:latin typeface="Arial"/>
              </a:rPr>
              <a:t>O XGBoost (eXtreme Gradient Boosting — impulsionamento extremo por gradiente) aprende padrões não lineares do ΔNEE (resíduo da troca líquida de CO₂), corrigindo o NEEfis0 e permitindo estimar o NEEhíbrido com maior precisão.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10728959" cy="5943600"/>
          </a:xfrm>
          <a:prstGeom prst="rect">
            <a:avLst/>
          </a:prstGeom>
          <a:noFill/>
        </p:spPr>
        <p:txBody>
          <a:bodyPr wrap="square" tIns="91440" bIns="9144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>
                <a:solidFill>
                  <a:srgbClr val="000000"/>
                </a:solidFill>
                <a:latin typeface="Arial"/>
              </a:rPr>
              <a:t>A estimativa final integra o NEEfis0 (Net Ecosystem Exchange físico inicial — estimativa física simplificada da troca líquida de CO₂) ao ΔNEEestimado (resíduo estimado da troca líquida de CO₂), aprendido pelo XGBoost (eXtreme Gradient Boosting — impulsionamento extremo por gradiente), gerando o NEEhíbrido.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10728959" cy="5943600"/>
          </a:xfrm>
          <a:prstGeom prst="rect">
            <a:avLst/>
          </a:prstGeom>
          <a:noFill/>
        </p:spPr>
        <p:txBody>
          <a:bodyPr wrap="square" tIns="91440" bIns="9144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>
                <a:solidFill>
                  <a:srgbClr val="000000"/>
                </a:solidFill>
                <a:latin typeface="Arial"/>
              </a:rPr>
              <a:t>O desempenho do modelo híbrido é avaliado pela comparação entre NEEref (referência biofísica da troca líquida de CO₂) e NEEhíbrido (estimativa híbrida da troca líquida de CO₂), utilizando RMSE (raiz do erro quadrático médio), MAE (erro absoluto médio) e R² (coeficiente de determinação).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10728959" cy="5943600"/>
          </a:xfrm>
          <a:prstGeom prst="rect">
            <a:avLst/>
          </a:prstGeom>
          <a:noFill/>
        </p:spPr>
        <p:txBody>
          <a:bodyPr wrap="square" tIns="91440" bIns="9144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>
                <a:solidFill>
                  <a:srgbClr val="000000"/>
                </a:solidFill>
                <a:latin typeface="Arial"/>
              </a:rPr>
              <a:t>O slide consolida todo o pipeline (fluxo metodológico), desde a definição da área de estudo, aquisição hiperespectral, variáveis ambientais e cálculo biofísico até o treinamento do XGBoost e a avaliação final do NEEhíbrido.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10728959" cy="5943600"/>
          </a:xfrm>
          <a:prstGeom prst="rect">
            <a:avLst/>
          </a:prstGeom>
          <a:noFill/>
        </p:spPr>
        <p:txBody>
          <a:bodyPr wrap="square" tIns="91440" bIns="9144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>
                <a:solidFill>
                  <a:srgbClr val="000000"/>
                </a:solidFill>
                <a:latin typeface="Arial"/>
              </a:rPr>
              <a:t>As etapas futuras incluem validação externa com FLUXNET (rede global de torres de fluxo) e MODIS (Moderate Resolution Imaging Spectroradiometer — sensor orbital de resolução moderada), expansão para outras culturas e uso do modelo como suporte a inventários estaduais de carbono.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1030</Words>
  <Application>Microsoft Office PowerPoint</Application>
  <PresentationFormat>Widescreen</PresentationFormat>
  <Paragraphs>24</Paragraphs>
  <Slides>24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subject/>
  <dc:creator/>
  <cp:keywords/>
  <dc:description>generated using python-pptx</dc:description>
  <cp:lastModifiedBy>Visitante</cp:lastModifiedBy>
  <cp:revision>2</cp:revision>
  <dcterms:created xsi:type="dcterms:W3CDTF">2013-01-27T09:14:16Z</dcterms:created>
  <dcterms:modified xsi:type="dcterms:W3CDTF">2026-06-02T23:05:39Z</dcterms:modified>
  <cp:category/>
</cp:coreProperties>
</file>